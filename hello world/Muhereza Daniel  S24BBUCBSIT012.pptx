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oppins" panose="020B0502040204020203" pitchFamily="2" charset="0"/>
      <p:regular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378" y="1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svg"/><Relationship Id="rId7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633" y="-5468306"/>
            <a:ext cx="12906806" cy="12906806"/>
          </a:xfrm>
          <a:custGeom>
            <a:avLst/>
            <a:gdLst/>
            <a:ahLst/>
            <a:cxnLst/>
            <a:rect l="l" t="t" r="r" b="b"/>
            <a:pathLst>
              <a:path w="12906806" h="12906806">
                <a:moveTo>
                  <a:pt x="0" y="0"/>
                </a:moveTo>
                <a:lnTo>
                  <a:pt x="12906806" y="0"/>
                </a:lnTo>
                <a:lnTo>
                  <a:pt x="12906806" y="12906807"/>
                </a:lnTo>
                <a:lnTo>
                  <a:pt x="0" y="12906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281574">
            <a:off x="9849516" y="2766381"/>
            <a:ext cx="15975639" cy="12983837"/>
          </a:xfrm>
          <a:custGeom>
            <a:avLst/>
            <a:gdLst/>
            <a:ahLst/>
            <a:cxnLst/>
            <a:rect l="l" t="t" r="r" b="b"/>
            <a:pathLst>
              <a:path w="15975639" h="12983837">
                <a:moveTo>
                  <a:pt x="0" y="0"/>
                </a:moveTo>
                <a:lnTo>
                  <a:pt x="15975638" y="0"/>
                </a:lnTo>
                <a:lnTo>
                  <a:pt x="15975638" y="12983838"/>
                </a:lnTo>
                <a:lnTo>
                  <a:pt x="0" y="12983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10408">
            <a:off x="5486400" y="6629736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802162" y="8197817"/>
            <a:ext cx="6099525" cy="1330805"/>
          </a:xfrm>
          <a:custGeom>
            <a:avLst/>
            <a:gdLst/>
            <a:ahLst/>
            <a:cxnLst/>
            <a:rect l="l" t="t" r="r" b="b"/>
            <a:pathLst>
              <a:path w="6099525" h="1330805">
                <a:moveTo>
                  <a:pt x="6099525" y="0"/>
                </a:moveTo>
                <a:lnTo>
                  <a:pt x="0" y="0"/>
                </a:lnTo>
                <a:lnTo>
                  <a:pt x="0" y="1330806"/>
                </a:lnTo>
                <a:lnTo>
                  <a:pt x="6099525" y="1330806"/>
                </a:lnTo>
                <a:lnTo>
                  <a:pt x="609952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7582" y="457854"/>
            <a:ext cx="707023" cy="1054485"/>
          </a:xfrm>
          <a:custGeom>
            <a:avLst/>
            <a:gdLst/>
            <a:ahLst/>
            <a:cxnLst/>
            <a:rect l="l" t="t" r="r" b="b"/>
            <a:pathLst>
              <a:path w="707023" h="1054485">
                <a:moveTo>
                  <a:pt x="0" y="0"/>
                </a:moveTo>
                <a:lnTo>
                  <a:pt x="707024" y="0"/>
                </a:lnTo>
                <a:lnTo>
                  <a:pt x="707024" y="1054485"/>
                </a:lnTo>
                <a:lnTo>
                  <a:pt x="0" y="10544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47074" y="758378"/>
            <a:ext cx="2966682" cy="508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4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UniEats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9916" y="8549222"/>
            <a:ext cx="8110538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98"/>
              </a:lnSpc>
            </a:pPr>
            <a:r>
              <a:rPr lang="en-US" sz="259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Muhereza Daniel | S24BBUC/BSIT/012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8739" y="2972414"/>
            <a:ext cx="8738098" cy="199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97"/>
              </a:lnSpc>
            </a:pPr>
            <a:r>
              <a:rPr lang="en-US" sz="810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Solving Campus</a:t>
            </a:r>
          </a:p>
          <a:p>
            <a:pPr marL="0" lvl="0" indent="0" algn="l">
              <a:lnSpc>
                <a:spcPts val="7297"/>
              </a:lnSpc>
            </a:pPr>
            <a:r>
              <a:rPr lang="en-US" sz="810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Food Problems</a:t>
            </a:r>
          </a:p>
        </p:txBody>
      </p:sp>
      <p:pic>
        <p:nvPicPr>
          <p:cNvPr id="10" name="image2.png">
            <a:extLst>
              <a:ext uri="{FF2B5EF4-FFF2-40B4-BE49-F238E27FC236}">
                <a16:creationId xmlns:a16="http://schemas.microsoft.com/office/drawing/2014/main" id="{7F8951B3-9894-3271-EBDC-D43BE68C141C}"/>
              </a:ext>
            </a:extLst>
          </p:cNvPr>
          <p:cNvPicPr/>
          <p:nvPr/>
        </p:nvPicPr>
        <p:blipFill>
          <a:blip r:embed="rId11"/>
          <a:srcRect/>
          <a:stretch>
            <a:fillRect/>
          </a:stretch>
        </p:blipFill>
        <p:spPr>
          <a:xfrm>
            <a:off x="12852044" y="0"/>
            <a:ext cx="4867275" cy="129014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5420970" y="-6253785"/>
            <a:ext cx="14564970" cy="14564970"/>
          </a:xfrm>
          <a:custGeom>
            <a:avLst/>
            <a:gdLst/>
            <a:ahLst/>
            <a:cxnLst/>
            <a:rect l="l" t="t" r="r" b="b"/>
            <a:pathLst>
              <a:path w="14564970" h="14564970">
                <a:moveTo>
                  <a:pt x="0" y="0"/>
                </a:moveTo>
                <a:lnTo>
                  <a:pt x="14564970" y="0"/>
                </a:lnTo>
                <a:lnTo>
                  <a:pt x="14564970" y="14564970"/>
                </a:lnTo>
                <a:lnTo>
                  <a:pt x="0" y="14564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6530576" y="6824270"/>
            <a:ext cx="2434030" cy="2434030"/>
          </a:xfrm>
          <a:custGeom>
            <a:avLst/>
            <a:gdLst/>
            <a:ahLst/>
            <a:cxnLst/>
            <a:rect l="l" t="t" r="r" b="b"/>
            <a:pathLst>
              <a:path w="2434030" h="2434030">
                <a:moveTo>
                  <a:pt x="0" y="0"/>
                </a:moveTo>
                <a:lnTo>
                  <a:pt x="2434031" y="0"/>
                </a:lnTo>
                <a:lnTo>
                  <a:pt x="2434031" y="2434030"/>
                </a:lnTo>
                <a:lnTo>
                  <a:pt x="0" y="2434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67860" y="5508113"/>
            <a:ext cx="9869980" cy="9869980"/>
          </a:xfrm>
          <a:custGeom>
            <a:avLst/>
            <a:gdLst/>
            <a:ahLst/>
            <a:cxnLst/>
            <a:rect l="l" t="t" r="r" b="b"/>
            <a:pathLst>
              <a:path w="9869980" h="9869980">
                <a:moveTo>
                  <a:pt x="0" y="0"/>
                </a:moveTo>
                <a:lnTo>
                  <a:pt x="9869980" y="0"/>
                </a:lnTo>
                <a:lnTo>
                  <a:pt x="9869980" y="9869980"/>
                </a:lnTo>
                <a:lnTo>
                  <a:pt x="0" y="9869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12900" y="1118928"/>
            <a:ext cx="7958265" cy="5152932"/>
            <a:chOff x="0" y="0"/>
            <a:chExt cx="10611020" cy="6870576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t="1948" b="1948"/>
            <a:stretch>
              <a:fillRect/>
            </a:stretch>
          </p:blipFill>
          <p:spPr>
            <a:xfrm>
              <a:off x="0" y="0"/>
              <a:ext cx="10611020" cy="6870576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0650664" y="1692175"/>
            <a:ext cx="6024436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50664" y="3314374"/>
            <a:ext cx="6024436" cy="355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BBUC students struggle with limited food options on campus. Our interviews revealed key pain points: long queues during peak hours, lack of menu visibility, and no way to pre-order meals. 78% of students surveyed skip meals due to time constraints between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99540">
            <a:off x="-2867334" y="-4361769"/>
            <a:ext cx="12335518" cy="12335518"/>
          </a:xfrm>
          <a:custGeom>
            <a:avLst/>
            <a:gdLst/>
            <a:ahLst/>
            <a:cxnLst/>
            <a:rect l="l" t="t" r="r" b="b"/>
            <a:pathLst>
              <a:path w="12335518" h="12335518">
                <a:moveTo>
                  <a:pt x="0" y="0"/>
                </a:moveTo>
                <a:lnTo>
                  <a:pt x="12335518" y="0"/>
                </a:lnTo>
                <a:lnTo>
                  <a:pt x="12335518" y="12335518"/>
                </a:lnTo>
                <a:lnTo>
                  <a:pt x="0" y="1233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00000">
            <a:off x="16270936" y="1476190"/>
            <a:ext cx="10511311" cy="10511311"/>
          </a:xfrm>
          <a:custGeom>
            <a:avLst/>
            <a:gdLst/>
            <a:ahLst/>
            <a:cxnLst/>
            <a:rect l="l" t="t" r="r" b="b"/>
            <a:pathLst>
              <a:path w="10511311" h="10511311">
                <a:moveTo>
                  <a:pt x="0" y="0"/>
                </a:moveTo>
                <a:lnTo>
                  <a:pt x="10511311" y="0"/>
                </a:lnTo>
                <a:lnTo>
                  <a:pt x="10511311" y="10511311"/>
                </a:lnTo>
                <a:lnTo>
                  <a:pt x="0" y="10511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117919"/>
            <a:ext cx="5147712" cy="125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  <a:spcBef>
                <a:spcPct val="0"/>
              </a:spcBef>
            </a:pPr>
            <a:r>
              <a:rPr lang="en-US" sz="699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784841"/>
            <a:ext cx="6084508" cy="155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1"/>
              </a:lnSpc>
              <a:spcBef>
                <a:spcPct val="0"/>
              </a:spcBef>
            </a:pPr>
            <a:r>
              <a:rPr lang="en-US" sz="2236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UniEats is a web app designed specifically for BBUC students to solve the campus food discovery problem identified through student interviews and validation research.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45605" y="2013688"/>
            <a:ext cx="5939625" cy="126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  <a:spcBef>
                <a:spcPct val="0"/>
              </a:spcBef>
            </a:pPr>
            <a:r>
              <a:rPr lang="en-US" sz="178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Scan the QR code on any campus poster to instantly access UniEats - no app download required. Works on any smartphone browser for immediate, frictionless access.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45605" y="1272628"/>
            <a:ext cx="3476917" cy="52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 b="1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QR CODE ACCESS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45605" y="4768054"/>
            <a:ext cx="5939625" cy="126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  <a:spcBef>
                <a:spcPct val="0"/>
              </a:spcBef>
            </a:pPr>
            <a:r>
              <a:rPr lang="en-US" sz="178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Browse all campus food vendors in one place. View real-time menus, prices, and wait times. Place orders for pickup or delivery. Rate and review your dining experiences.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45605" y="4026994"/>
            <a:ext cx="3476917" cy="52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 b="1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CORE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45605" y="7522420"/>
            <a:ext cx="5939625" cy="126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  <a:spcBef>
                <a:spcPct val="0"/>
              </a:spcBef>
            </a:pPr>
            <a:r>
              <a:rPr lang="en-US" sz="178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Students reported difficulty finding food options and long queues. UniEats centralizes vendor information, reduces wait times through pre-ordering, and helps students make informed choices.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45605" y="6781360"/>
            <a:ext cx="3476917" cy="52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 b="1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SOLVED</a:t>
            </a:r>
          </a:p>
        </p:txBody>
      </p:sp>
      <p:sp>
        <p:nvSpPr>
          <p:cNvPr id="12" name="Freeform 12"/>
          <p:cNvSpPr/>
          <p:nvPr/>
        </p:nvSpPr>
        <p:spPr>
          <a:xfrm rot="268860">
            <a:off x="3752874" y="3946460"/>
            <a:ext cx="6484275" cy="1108222"/>
          </a:xfrm>
          <a:custGeom>
            <a:avLst/>
            <a:gdLst/>
            <a:ahLst/>
            <a:cxnLst/>
            <a:rect l="l" t="t" r="r" b="b"/>
            <a:pathLst>
              <a:path w="6484275" h="1108222">
                <a:moveTo>
                  <a:pt x="0" y="0"/>
                </a:moveTo>
                <a:lnTo>
                  <a:pt x="6484275" y="0"/>
                </a:lnTo>
                <a:lnTo>
                  <a:pt x="6484275" y="1108222"/>
                </a:lnTo>
                <a:lnTo>
                  <a:pt x="0" y="110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0933" y="1244938"/>
            <a:ext cx="3177797" cy="2730919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46596" y="1396611"/>
            <a:ext cx="2786470" cy="2427572"/>
            <a:chOff x="0" y="0"/>
            <a:chExt cx="6350000" cy="5532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390747" y="1528747"/>
            <a:ext cx="2498167" cy="2163300"/>
            <a:chOff x="0" y="0"/>
            <a:chExt cx="4282440" cy="3708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536" r="-353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050933" y="5397838"/>
            <a:ext cx="3177797" cy="2730919"/>
            <a:chOff x="0" y="0"/>
            <a:chExt cx="8128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46596" y="5549511"/>
            <a:ext cx="2786470" cy="2427572"/>
            <a:chOff x="0" y="0"/>
            <a:chExt cx="6350000" cy="5532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390747" y="5681647"/>
            <a:ext cx="2498167" cy="2163300"/>
            <a:chOff x="0" y="0"/>
            <a:chExt cx="4282440" cy="3708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3536" r="-353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3228854" y="1244938"/>
            <a:ext cx="3177797" cy="2730919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424518" y="1396611"/>
            <a:ext cx="2786470" cy="2427572"/>
            <a:chOff x="0" y="0"/>
            <a:chExt cx="6350000" cy="5532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568669" y="1528747"/>
            <a:ext cx="2498167" cy="2163300"/>
            <a:chOff x="0" y="0"/>
            <a:chExt cx="4282440" cy="3708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-3536" r="-3536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3228854" y="5397838"/>
            <a:ext cx="3177797" cy="2730919"/>
            <a:chOff x="0" y="0"/>
            <a:chExt cx="812800" cy="698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424518" y="5549511"/>
            <a:ext cx="2786470" cy="2427572"/>
            <a:chOff x="0" y="0"/>
            <a:chExt cx="6350000" cy="5532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3568669" y="5681647"/>
            <a:ext cx="2498167" cy="2163300"/>
            <a:chOff x="0" y="0"/>
            <a:chExt cx="4282440" cy="3708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3536" r="-3536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 rot="-10800000">
            <a:off x="1034954" y="1028700"/>
            <a:ext cx="7209218" cy="4942481"/>
            <a:chOff x="0" y="0"/>
            <a:chExt cx="6350000" cy="4353420"/>
          </a:xfrm>
        </p:grpSpPr>
        <p:sp>
          <p:nvSpPr>
            <p:cNvPr id="31" name="Freeform 31"/>
            <p:cNvSpPr/>
            <p:nvPr/>
          </p:nvSpPr>
          <p:spPr>
            <a:xfrm>
              <a:off x="0" y="82550"/>
              <a:ext cx="6350000" cy="4269601"/>
            </a:xfrm>
            <a:custGeom>
              <a:avLst/>
              <a:gdLst/>
              <a:ahLst/>
              <a:cxnLst/>
              <a:rect l="l" t="t" r="r" b="b"/>
              <a:pathLst>
                <a:path w="6350000" h="4269601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4269601"/>
                  </a:lnTo>
                  <a:lnTo>
                    <a:pt x="6350000" y="4269601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3383372" y="3979104"/>
            <a:ext cx="2868761" cy="4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r>
              <a:rPr lang="en-US" sz="266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Brand Voice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527523" y="4530462"/>
            <a:ext cx="2580459" cy="35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Friendly &amp; Local</a:t>
            </a:r>
          </a:p>
        </p:txBody>
      </p:sp>
      <p:sp>
        <p:nvSpPr>
          <p:cNvPr id="34" name="Freeform 34"/>
          <p:cNvSpPr/>
          <p:nvPr/>
        </p:nvSpPr>
        <p:spPr>
          <a:xfrm rot="-1039447">
            <a:off x="16879310" y="2880993"/>
            <a:ext cx="10714577" cy="10714577"/>
          </a:xfrm>
          <a:custGeom>
            <a:avLst/>
            <a:gdLst/>
            <a:ahLst/>
            <a:cxnLst/>
            <a:rect l="l" t="t" r="r" b="b"/>
            <a:pathLst>
              <a:path w="10714577" h="10714577">
                <a:moveTo>
                  <a:pt x="0" y="0"/>
                </a:moveTo>
                <a:lnTo>
                  <a:pt x="10714577" y="0"/>
                </a:lnTo>
                <a:lnTo>
                  <a:pt x="10714577" y="10714577"/>
                </a:lnTo>
                <a:lnTo>
                  <a:pt x="0" y="1071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 rot="-5400000">
            <a:off x="3688278" y="4702406"/>
            <a:ext cx="1896316" cy="7215472"/>
            <a:chOff x="0" y="0"/>
            <a:chExt cx="1243904" cy="473304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43904" cy="4733047"/>
            </a:xfrm>
            <a:custGeom>
              <a:avLst/>
              <a:gdLst/>
              <a:ahLst/>
              <a:cxnLst/>
              <a:rect l="l" t="t" r="r" b="b"/>
              <a:pathLst>
                <a:path w="1243904" h="4733047">
                  <a:moveTo>
                    <a:pt x="1080074" y="0"/>
                  </a:moveTo>
                  <a:lnTo>
                    <a:pt x="0" y="0"/>
                  </a:lnTo>
                  <a:lnTo>
                    <a:pt x="0" y="4733047"/>
                  </a:lnTo>
                  <a:lnTo>
                    <a:pt x="76200" y="4733047"/>
                  </a:lnTo>
                  <a:lnTo>
                    <a:pt x="76200" y="76200"/>
                  </a:lnTo>
                  <a:lnTo>
                    <a:pt x="1243904" y="76200"/>
                  </a:lnTo>
                  <a:lnTo>
                    <a:pt x="1243904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1484352" y="1225161"/>
            <a:ext cx="6033056" cy="105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57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BRAND IDENTITY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84352" y="2747315"/>
            <a:ext cx="6366431" cy="219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UniEats brand is built on trust, convenience, and campus community. Our visual identity uses vibrant orange and fresh green to evoke appetite and sustainability.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05451" y="3979104"/>
            <a:ext cx="2868761" cy="4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r>
              <a:rPr lang="en-US" sz="266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Brand Colors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49602" y="4530462"/>
            <a:ext cx="2580459" cy="35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Orange &amp; Green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05451" y="8132004"/>
            <a:ext cx="2868761" cy="4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r>
              <a:rPr lang="en-US" sz="266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Media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49602" y="8683362"/>
            <a:ext cx="2580459" cy="35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Channel 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383372" y="8132004"/>
            <a:ext cx="2868761" cy="4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r>
              <a:rPr lang="en-US" sz="266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Campus Posters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527523" y="8683362"/>
            <a:ext cx="2580459" cy="35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Channel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153637">
            <a:off x="-4958019" y="7314479"/>
            <a:ext cx="14990034" cy="14990034"/>
          </a:xfrm>
          <a:custGeom>
            <a:avLst/>
            <a:gdLst/>
            <a:ahLst/>
            <a:cxnLst/>
            <a:rect l="l" t="t" r="r" b="b"/>
            <a:pathLst>
              <a:path w="14990034" h="14990034">
                <a:moveTo>
                  <a:pt x="0" y="0"/>
                </a:moveTo>
                <a:lnTo>
                  <a:pt x="14990034" y="0"/>
                </a:lnTo>
                <a:lnTo>
                  <a:pt x="14990034" y="14990035"/>
                </a:lnTo>
                <a:lnTo>
                  <a:pt x="0" y="1499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045" y="3588842"/>
            <a:ext cx="10427188" cy="6455915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 rot="-6202356">
            <a:off x="9317686" y="-7079385"/>
            <a:ext cx="10511311" cy="10511311"/>
          </a:xfrm>
          <a:custGeom>
            <a:avLst/>
            <a:gdLst/>
            <a:ahLst/>
            <a:cxnLst/>
            <a:rect l="l" t="t" r="r" b="b"/>
            <a:pathLst>
              <a:path w="10511311" h="10511311">
                <a:moveTo>
                  <a:pt x="0" y="0"/>
                </a:moveTo>
                <a:lnTo>
                  <a:pt x="10511311" y="0"/>
                </a:lnTo>
                <a:lnTo>
                  <a:pt x="10511311" y="10511311"/>
                </a:lnTo>
                <a:lnTo>
                  <a:pt x="0" y="10511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66725" y="1066800"/>
            <a:ext cx="6235262" cy="2828165"/>
          </a:xfrm>
          <a:custGeom>
            <a:avLst/>
            <a:gdLst/>
            <a:ahLst/>
            <a:cxnLst/>
            <a:rect l="l" t="t" r="r" b="b"/>
            <a:pathLst>
              <a:path w="6235262" h="2828165">
                <a:moveTo>
                  <a:pt x="0" y="0"/>
                </a:moveTo>
                <a:lnTo>
                  <a:pt x="6235262" y="0"/>
                </a:lnTo>
                <a:lnTo>
                  <a:pt x="6235262" y="2828165"/>
                </a:lnTo>
                <a:lnTo>
                  <a:pt x="0" y="282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486378"/>
            <a:ext cx="5369589" cy="81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4"/>
              </a:lnSpc>
              <a:spcBef>
                <a:spcPct val="0"/>
              </a:spcBef>
            </a:pPr>
            <a:r>
              <a:rPr lang="en-US" sz="45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STREAMS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8750" y="3409724"/>
            <a:ext cx="6084508" cy="181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92"/>
              </a:lnSpc>
              <a:spcBef>
                <a:spcPct val="0"/>
              </a:spcBef>
            </a:pPr>
            <a:r>
              <a:rPr lang="en-US" sz="2066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UniEats generates revenue through two primary channels: a delivery fee per order and a listing fee for vendor partnerships. This dual-stream model ensures sustainable growth while keeping costs affordable for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06174"/>
            <a:ext cx="8067311" cy="984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89"/>
              </a:lnSpc>
              <a:spcBef>
                <a:spcPct val="0"/>
              </a:spcBef>
            </a:pPr>
            <a:r>
              <a:rPr lang="en-US" sz="549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3-MONTH TARGET KPIS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2894" y="2477139"/>
            <a:ext cx="5807378" cy="355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key performance indicators track growth across three critical metrics: user acquisition targeting 500 active users by month 3, order volume aiming for 1,000 monthly orders, and revenue projections of £2,500 monthly from delivery and listing fees combined.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557" y="3774393"/>
            <a:ext cx="10432084" cy="6157399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 rot="2700000" flipH="1" flipV="1">
            <a:off x="10168747" y="-5197216"/>
            <a:ext cx="12789569" cy="10394432"/>
          </a:xfrm>
          <a:custGeom>
            <a:avLst/>
            <a:gdLst/>
            <a:ahLst/>
            <a:cxnLst/>
            <a:rect l="l" t="t" r="r" b="b"/>
            <a:pathLst>
              <a:path w="12789569" h="10394432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643211">
            <a:off x="-2385201" y="6220695"/>
            <a:ext cx="9797381" cy="9797381"/>
          </a:xfrm>
          <a:custGeom>
            <a:avLst/>
            <a:gdLst/>
            <a:ahLst/>
            <a:cxnLst/>
            <a:rect l="l" t="t" r="r" b="b"/>
            <a:pathLst>
              <a:path w="9797381" h="9797381">
                <a:moveTo>
                  <a:pt x="0" y="0"/>
                </a:moveTo>
                <a:lnTo>
                  <a:pt x="9797381" y="0"/>
                </a:lnTo>
                <a:lnTo>
                  <a:pt x="9797381" y="9797381"/>
                </a:lnTo>
                <a:lnTo>
                  <a:pt x="0" y="9797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33938">
            <a:off x="8425222" y="-1341599"/>
            <a:ext cx="16236000" cy="15840000"/>
          </a:xfrm>
          <a:custGeom>
            <a:avLst/>
            <a:gdLst/>
            <a:ahLst/>
            <a:cxnLst/>
            <a:rect l="l" t="t" r="r" b="b"/>
            <a:pathLst>
              <a:path w="17455984" h="17455984">
                <a:moveTo>
                  <a:pt x="0" y="0"/>
                </a:moveTo>
                <a:lnTo>
                  <a:pt x="17455984" y="0"/>
                </a:lnTo>
                <a:lnTo>
                  <a:pt x="17455984" y="17455984"/>
                </a:lnTo>
                <a:lnTo>
                  <a:pt x="0" y="17455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2" t="2712" r="3249" b="-27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72022" y="2217763"/>
            <a:ext cx="5851474" cy="5851474"/>
            <a:chOff x="0" y="0"/>
            <a:chExt cx="7801965" cy="7801965"/>
          </a:xfrm>
        </p:grpSpPr>
        <p:sp>
          <p:nvSpPr>
            <p:cNvPr id="4" name="AutoShape 4"/>
            <p:cNvSpPr/>
            <p:nvPr/>
          </p:nvSpPr>
          <p:spPr>
            <a:xfrm rot="-2700000">
              <a:off x="-1543944" y="3829086"/>
              <a:ext cx="10889852" cy="0"/>
            </a:xfrm>
            <a:prstGeom prst="line">
              <a:avLst/>
            </a:prstGeom>
            <a:ln w="1397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AutoShape 5"/>
            <p:cNvSpPr/>
            <p:nvPr/>
          </p:nvSpPr>
          <p:spPr>
            <a:xfrm rot="2700000">
              <a:off x="-1543944" y="3829086"/>
              <a:ext cx="10889852" cy="0"/>
            </a:xfrm>
            <a:prstGeom prst="line">
              <a:avLst/>
            </a:prstGeom>
            <a:ln w="1397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" name="Freeform 6"/>
          <p:cNvSpPr/>
          <p:nvPr/>
        </p:nvSpPr>
        <p:spPr>
          <a:xfrm rot="-5400000">
            <a:off x="10466499" y="4492188"/>
            <a:ext cx="1925923" cy="1302624"/>
          </a:xfrm>
          <a:custGeom>
            <a:avLst/>
            <a:gdLst/>
            <a:ahLst/>
            <a:cxnLst/>
            <a:rect l="l" t="t" r="r" b="b"/>
            <a:pathLst>
              <a:path w="1925923" h="1302624">
                <a:moveTo>
                  <a:pt x="0" y="0"/>
                </a:moveTo>
                <a:lnTo>
                  <a:pt x="1925923" y="0"/>
                </a:lnTo>
                <a:lnTo>
                  <a:pt x="1925923" y="1302624"/>
                </a:lnTo>
                <a:lnTo>
                  <a:pt x="0" y="1302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03810" y="6254391"/>
            <a:ext cx="1187899" cy="1814845"/>
          </a:xfrm>
          <a:custGeom>
            <a:avLst/>
            <a:gdLst/>
            <a:ahLst/>
            <a:cxnLst/>
            <a:rect l="l" t="t" r="r" b="b"/>
            <a:pathLst>
              <a:path w="1187899" h="1814845">
                <a:moveTo>
                  <a:pt x="0" y="0"/>
                </a:moveTo>
                <a:lnTo>
                  <a:pt x="1187899" y="0"/>
                </a:lnTo>
                <a:lnTo>
                  <a:pt x="1187899" y="1814846"/>
                </a:lnTo>
                <a:lnTo>
                  <a:pt x="0" y="1814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47282" y="4311488"/>
            <a:ext cx="1676214" cy="1664024"/>
          </a:xfrm>
          <a:custGeom>
            <a:avLst/>
            <a:gdLst/>
            <a:ahLst/>
            <a:cxnLst/>
            <a:rect l="l" t="t" r="r" b="b"/>
            <a:pathLst>
              <a:path w="1676214" h="1664024">
                <a:moveTo>
                  <a:pt x="0" y="0"/>
                </a:moveTo>
                <a:lnTo>
                  <a:pt x="1676214" y="0"/>
                </a:lnTo>
                <a:lnTo>
                  <a:pt x="1676214" y="1664024"/>
                </a:lnTo>
                <a:lnTo>
                  <a:pt x="0" y="16640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65747" y="2204774"/>
            <a:ext cx="1664024" cy="1664024"/>
          </a:xfrm>
          <a:custGeom>
            <a:avLst/>
            <a:gdLst/>
            <a:ahLst/>
            <a:cxnLst/>
            <a:rect l="l" t="t" r="r" b="b"/>
            <a:pathLst>
              <a:path w="1664024" h="1664024">
                <a:moveTo>
                  <a:pt x="0" y="0"/>
                </a:moveTo>
                <a:lnTo>
                  <a:pt x="1664024" y="0"/>
                </a:lnTo>
                <a:lnTo>
                  <a:pt x="1664024" y="1664024"/>
                </a:lnTo>
                <a:lnTo>
                  <a:pt x="0" y="1664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046683"/>
            <a:ext cx="7928998" cy="208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18"/>
              </a:lnSpc>
            </a:pPr>
            <a:r>
              <a:rPr lang="en-US" sz="651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 UNIQUE VALUE PROPOSITION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926503"/>
            <a:ext cx="7470489" cy="1572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9"/>
              </a:lnSpc>
              <a:spcBef>
                <a:spcPct val="0"/>
              </a:spcBef>
            </a:pPr>
            <a:r>
              <a:rPr lang="en-US" sz="2235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existing campus solution. Built by a BBUC student, for BBUC students. UniEats fills a gap that no other service addresses—bringing convenient, affordable food delivery directly to our campus community.</a:t>
            </a:r>
          </a:p>
        </p:txBody>
      </p:sp>
      <p:grpSp>
        <p:nvGrpSpPr>
          <p:cNvPr id="12" name="Group 12"/>
          <p:cNvGrpSpPr/>
          <p:nvPr/>
        </p:nvGrpSpPr>
        <p:grpSpPr>
          <a:xfrm rot="-2161630">
            <a:off x="-3411004" y="8298540"/>
            <a:ext cx="11806013" cy="10145793"/>
            <a:chOff x="0" y="0"/>
            <a:chExt cx="812800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05926" y="3004515"/>
            <a:ext cx="14564970" cy="14564970"/>
          </a:xfrm>
          <a:custGeom>
            <a:avLst/>
            <a:gdLst/>
            <a:ahLst/>
            <a:cxnLst/>
            <a:rect l="l" t="t" r="r" b="b"/>
            <a:pathLst>
              <a:path w="14564970" h="14564970">
                <a:moveTo>
                  <a:pt x="0" y="0"/>
                </a:moveTo>
                <a:lnTo>
                  <a:pt x="14564970" y="0"/>
                </a:lnTo>
                <a:lnTo>
                  <a:pt x="14564970" y="14564970"/>
                </a:lnTo>
                <a:lnTo>
                  <a:pt x="0" y="14564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38531" y="-9798397"/>
            <a:ext cx="14564970" cy="14564970"/>
          </a:xfrm>
          <a:custGeom>
            <a:avLst/>
            <a:gdLst/>
            <a:ahLst/>
            <a:cxnLst/>
            <a:rect l="l" t="t" r="r" b="b"/>
            <a:pathLst>
              <a:path w="14564970" h="14564970">
                <a:moveTo>
                  <a:pt x="0" y="0"/>
                </a:moveTo>
                <a:lnTo>
                  <a:pt x="14564970" y="0"/>
                </a:lnTo>
                <a:lnTo>
                  <a:pt x="14564970" y="14564970"/>
                </a:lnTo>
                <a:lnTo>
                  <a:pt x="0" y="14564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575493"/>
            <a:ext cx="6271906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4"/>
              </a:lnSpc>
            </a:pPr>
            <a:r>
              <a:rPr lang="en-US" sz="69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ANTICIPATED Q&amp;A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59044" y="5506338"/>
            <a:ext cx="5028150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59044" y="6293593"/>
            <a:ext cx="5028150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Competition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59044" y="7080848"/>
            <a:ext cx="5028150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Payment Security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59044" y="7868103"/>
            <a:ext cx="5028150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Canteen Partnerships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59044" y="8655357"/>
            <a:ext cx="5028150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Profitability Timeline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6288" y="5506338"/>
            <a:ext cx="5926635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Modular architecture for growth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6288" y="6293593"/>
            <a:ext cx="5931158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campus-specific solution exists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6288" y="7080848"/>
            <a:ext cx="5926635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SSL encryption &amp; secure gateways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6288" y="7868103"/>
            <a:ext cx="5926635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Win-win revenue sharing 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0811" y="8655357"/>
            <a:ext cx="5922111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2683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Break-even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291458">
            <a:off x="14642159" y="-7232502"/>
            <a:ext cx="15191719" cy="15191719"/>
          </a:xfrm>
          <a:custGeom>
            <a:avLst/>
            <a:gdLst/>
            <a:ahLst/>
            <a:cxnLst/>
            <a:rect l="l" t="t" r="r" b="b"/>
            <a:pathLst>
              <a:path w="15191719" h="15191719">
                <a:moveTo>
                  <a:pt x="0" y="0"/>
                </a:moveTo>
                <a:lnTo>
                  <a:pt x="15191719" y="0"/>
                </a:lnTo>
                <a:lnTo>
                  <a:pt x="15191719" y="15191719"/>
                </a:lnTo>
                <a:lnTo>
                  <a:pt x="0" y="15191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291458">
            <a:off x="-11545878" y="2327783"/>
            <a:ext cx="15191719" cy="15191719"/>
          </a:xfrm>
          <a:custGeom>
            <a:avLst/>
            <a:gdLst/>
            <a:ahLst/>
            <a:cxnLst/>
            <a:rect l="l" t="t" r="r" b="b"/>
            <a:pathLst>
              <a:path w="15191719" h="15191719">
                <a:moveTo>
                  <a:pt x="0" y="0"/>
                </a:moveTo>
                <a:lnTo>
                  <a:pt x="15191719" y="0"/>
                </a:lnTo>
                <a:lnTo>
                  <a:pt x="15191719" y="15191719"/>
                </a:lnTo>
                <a:lnTo>
                  <a:pt x="0" y="15191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98001" y="3038665"/>
            <a:ext cx="12091998" cy="2447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901"/>
              </a:lnSpc>
              <a:spcBef>
                <a:spcPct val="0"/>
              </a:spcBef>
            </a:pPr>
            <a:r>
              <a:rPr lang="en-US" sz="1350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58489" y="5238672"/>
            <a:ext cx="9971022" cy="320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1"/>
              </a:lnSpc>
              <a:spcBef>
                <a:spcPct val="0"/>
              </a:spcBef>
            </a:pPr>
            <a:r>
              <a:rPr lang="en-US" sz="8993" dirty="0">
                <a:solidFill>
                  <a:srgbClr val="314FDD"/>
                </a:solidFill>
                <a:latin typeface="Poppins"/>
                <a:ea typeface="Poppins"/>
                <a:cs typeface="Poppins"/>
                <a:sym typeface="Poppins"/>
              </a:rPr>
              <a:t>QUESTIONS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396</Words>
  <Application>Microsoft Office PowerPoint</Application>
  <PresentationFormat>Custom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Muhereza Daniel | S24BBUC/BSIT/012</dc:title>
  <cp:lastModifiedBy>Muhereza Daniel</cp:lastModifiedBy>
  <cp:revision>2</cp:revision>
  <dcterms:created xsi:type="dcterms:W3CDTF">2006-08-16T00:00:00Z</dcterms:created>
  <dcterms:modified xsi:type="dcterms:W3CDTF">2026-04-03T18:38:28Z</dcterms:modified>
  <dc:identifier>DAHFzxpWH6o</dc:identifier>
</cp:coreProperties>
</file>